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  <p:sldMasterId id="214748367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5143500" cx="9144000"/>
  <p:notesSz cx="6858000" cy="9144000"/>
  <p:embeddedFontLst>
    <p:embeddedFont>
      <p:font typeface="Montserrat SemiBold"/>
      <p:regular r:id="rId14"/>
      <p:bold r:id="rId15"/>
      <p:italic r:id="rId16"/>
      <p:boldItalic r:id="rId17"/>
    </p:embeddedFont>
    <p:embeddedFont>
      <p:font typeface="Montserrat Black"/>
      <p:bold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Montserrat ExtraBold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MontserratExtraBold-bold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5" Type="http://schemas.openxmlformats.org/officeDocument/2006/relationships/font" Target="fonts/MontserratExtraBold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font" Target="fonts/MontserratSemiBold-bold.fntdata"/><Relationship Id="rId14" Type="http://schemas.openxmlformats.org/officeDocument/2006/relationships/font" Target="fonts/MontserratSemiBold-regular.fntdata"/><Relationship Id="rId17" Type="http://schemas.openxmlformats.org/officeDocument/2006/relationships/font" Target="fonts/MontserratSemiBold-boldItalic.fntdata"/><Relationship Id="rId16" Type="http://schemas.openxmlformats.org/officeDocument/2006/relationships/font" Target="fonts/MontserratSemiBold-italic.fntdata"/><Relationship Id="rId19" Type="http://schemas.openxmlformats.org/officeDocument/2006/relationships/font" Target="fonts/MontserratBlack-boldItalic.fntdata"/><Relationship Id="rId18" Type="http://schemas.openxmlformats.org/officeDocument/2006/relationships/font" Target="fonts/MontserratBlac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c9102466d6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c9102466d6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c9102466d6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c9102466d6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c50b9e75a_1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c50b9e75a_1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f1bf48e7b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ef1bf48e7b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ef1bf48e7b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c9102466d6_0_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c9102466d6_0_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c9102466d6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c9102466d6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9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7"/>
          <p:cNvSpPr/>
          <p:nvPr/>
        </p:nvSpPr>
        <p:spPr>
          <a:xfrm>
            <a:off x="9525" y="2099050"/>
            <a:ext cx="9144000" cy="30543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50000">
                <a:srgbClr val="212121">
                  <a:alpha val="60000"/>
                </a:srgbClr>
              </a:gs>
              <a:gs pos="100000">
                <a:srgbClr val="212121">
                  <a:alpha val="89803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7"/>
          <p:cNvSpPr txBox="1"/>
          <p:nvPr/>
        </p:nvSpPr>
        <p:spPr>
          <a:xfrm>
            <a:off x="3325650" y="3755600"/>
            <a:ext cx="5742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tr" sz="30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Portaxe</a:t>
            </a:r>
            <a:endParaRPr sz="30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03" name="Google Shape;103;p27"/>
          <p:cNvSpPr txBox="1"/>
          <p:nvPr/>
        </p:nvSpPr>
        <p:spPr>
          <a:xfrm>
            <a:off x="426195" y="3522775"/>
            <a:ext cx="42846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solidFill>
                  <a:srgbClr val="F3F3F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2026 Yılını Nasıl Geçirdik?</a:t>
            </a:r>
            <a:endParaRPr>
              <a:solidFill>
                <a:srgbClr val="F3F3F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solidFill>
                  <a:srgbClr val="F3F3F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Güçlü Yönleriniz Neler?</a:t>
            </a:r>
            <a:endParaRPr>
              <a:solidFill>
                <a:srgbClr val="F3F3F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solidFill>
                  <a:srgbClr val="F3F3F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Neleri Daha İyi Yapabilirsiniz?</a:t>
            </a:r>
            <a:endParaRPr>
              <a:solidFill>
                <a:srgbClr val="F3F3F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solidFill>
                  <a:srgbClr val="F3F3F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İşlerinizi Nasıl Artırabilirsiniz?</a:t>
            </a:r>
            <a:endParaRPr>
              <a:solidFill>
                <a:srgbClr val="F3F3F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04" name="Google Shape;104;p27" title="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3450" y="3226300"/>
            <a:ext cx="1485376" cy="67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8"/>
          <p:cNvSpPr/>
          <p:nvPr/>
        </p:nvSpPr>
        <p:spPr>
          <a:xfrm>
            <a:off x="3750" y="-9049"/>
            <a:ext cx="9136500" cy="91500"/>
          </a:xfrm>
          <a:prstGeom prst="rect">
            <a:avLst/>
          </a:prstGeom>
          <a:solidFill>
            <a:srgbClr val="DB0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28"/>
          <p:cNvGrpSpPr/>
          <p:nvPr/>
        </p:nvGrpSpPr>
        <p:grpSpPr>
          <a:xfrm>
            <a:off x="559828" y="456573"/>
            <a:ext cx="5285169" cy="637940"/>
            <a:chOff x="556800" y="1262727"/>
            <a:chExt cx="7334400" cy="637940"/>
          </a:xfrm>
        </p:grpSpPr>
        <p:sp>
          <p:nvSpPr>
            <p:cNvPr id="111" name="Google Shape;111;p28"/>
            <p:cNvSpPr txBox="1"/>
            <p:nvPr/>
          </p:nvSpPr>
          <p:spPr>
            <a:xfrm>
              <a:off x="556800" y="1262727"/>
              <a:ext cx="73344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r" sz="1500">
                  <a:latin typeface="Montserrat"/>
                  <a:ea typeface="Montserrat"/>
                  <a:cs typeface="Montserrat"/>
                  <a:sym typeface="Montserrat"/>
                </a:rPr>
                <a:t>Düğün.com Google’da Her Zaman En Üstte!</a:t>
              </a:r>
              <a:endParaRPr b="1" sz="15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2" name="Google Shape;112;p28"/>
            <p:cNvSpPr txBox="1"/>
            <p:nvPr/>
          </p:nvSpPr>
          <p:spPr>
            <a:xfrm>
              <a:off x="556800" y="1561967"/>
              <a:ext cx="7334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000">
                  <a:highlight>
                    <a:schemeClr val="lt1"/>
                  </a:highlight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Düğünle ilgili yapılan </a:t>
              </a:r>
              <a:r>
                <a:rPr lang="tr" sz="1000">
                  <a:solidFill>
                    <a:srgbClr val="DB0962"/>
                  </a:solidFill>
                  <a:highlight>
                    <a:schemeClr val="lt1"/>
                  </a:highlight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aramaların %98’inde Düğün.com 1. sırada çıkıyor.</a:t>
              </a:r>
              <a:endParaRPr sz="1000">
                <a:solidFill>
                  <a:srgbClr val="DB0962"/>
                </a:solidFill>
                <a:highlight>
                  <a:srgbClr val="FFFFFF"/>
                </a:highlight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13" name="Google Shape;113;p28"/>
          <p:cNvGrpSpPr/>
          <p:nvPr/>
        </p:nvGrpSpPr>
        <p:grpSpPr>
          <a:xfrm>
            <a:off x="559837" y="1282031"/>
            <a:ext cx="6174102" cy="1099617"/>
            <a:chOff x="556813" y="1202550"/>
            <a:chExt cx="8568002" cy="1099617"/>
          </a:xfrm>
        </p:grpSpPr>
        <p:sp>
          <p:nvSpPr>
            <p:cNvPr id="114" name="Google Shape;114;p28"/>
            <p:cNvSpPr txBox="1"/>
            <p:nvPr/>
          </p:nvSpPr>
          <p:spPr>
            <a:xfrm>
              <a:off x="556813" y="1202550"/>
              <a:ext cx="8568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r" sz="1500">
                  <a:latin typeface="Montserrat"/>
                  <a:ea typeface="Montserrat"/>
                  <a:cs typeface="Montserrat"/>
                  <a:sym typeface="Montserrat"/>
                </a:rPr>
                <a:t>Düğün Araştırması Yapan Tüm Çiftler Düğün.com’a Giriyor!</a:t>
              </a:r>
              <a:endParaRPr b="1" sz="15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5" name="Google Shape;115;p28"/>
            <p:cNvSpPr txBox="1"/>
            <p:nvPr/>
          </p:nvSpPr>
          <p:spPr>
            <a:xfrm>
              <a:off x="556814" y="1501767"/>
              <a:ext cx="85680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0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TÜİK verilerine göre yılda ortalama </a:t>
              </a:r>
              <a:r>
                <a:rPr lang="tr" sz="1000">
                  <a:solidFill>
                    <a:srgbClr val="DB0962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565 bin çift evleniyor.</a:t>
              </a:r>
              <a:r>
                <a:rPr lang="tr" sz="10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 </a:t>
              </a:r>
              <a:endParaRPr sz="10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0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Bu çiftlerin </a:t>
              </a:r>
              <a:r>
                <a:rPr lang="tr" sz="1000">
                  <a:solidFill>
                    <a:srgbClr val="DB0962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450 bini</a:t>
              </a:r>
              <a:r>
                <a:rPr lang="tr" sz="10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 yayında olduğumuz illerde, yaklaşık </a:t>
              </a:r>
              <a:r>
                <a:rPr lang="tr" sz="1000">
                  <a:solidFill>
                    <a:srgbClr val="DB0962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1 Milyon etkinlik yapıyor.</a:t>
              </a:r>
              <a:r>
                <a:rPr lang="tr" sz="10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 </a:t>
              </a:r>
              <a:endParaRPr sz="10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000">
                  <a:solidFill>
                    <a:srgbClr val="DB0962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Çiftlerin tamamı Düğün.com'u kullanıyor.</a:t>
              </a:r>
              <a:endParaRPr sz="1000">
                <a:solidFill>
                  <a:srgbClr val="DB0962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16" name="Google Shape;116;p28"/>
          <p:cNvGrpSpPr/>
          <p:nvPr/>
        </p:nvGrpSpPr>
        <p:grpSpPr>
          <a:xfrm>
            <a:off x="559828" y="2534053"/>
            <a:ext cx="5285169" cy="637942"/>
            <a:chOff x="556800" y="1509750"/>
            <a:chExt cx="7334400" cy="637942"/>
          </a:xfrm>
        </p:grpSpPr>
        <p:sp>
          <p:nvSpPr>
            <p:cNvPr id="117" name="Google Shape;117;p28"/>
            <p:cNvSpPr txBox="1"/>
            <p:nvPr/>
          </p:nvSpPr>
          <p:spPr>
            <a:xfrm>
              <a:off x="556800" y="1509750"/>
              <a:ext cx="73344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r" sz="1500">
                  <a:latin typeface="Montserrat"/>
                  <a:ea typeface="Montserrat"/>
                  <a:cs typeface="Montserrat"/>
                  <a:sym typeface="Montserrat"/>
                </a:rPr>
                <a:t>5.000 Üye Düğün Firması Burada!</a:t>
              </a:r>
              <a:endParaRPr b="1" sz="15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8" name="Google Shape;118;p28"/>
            <p:cNvSpPr txBox="1"/>
            <p:nvPr/>
          </p:nvSpPr>
          <p:spPr>
            <a:xfrm>
              <a:off x="556800" y="1808992"/>
              <a:ext cx="7334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000">
                  <a:solidFill>
                    <a:srgbClr val="DB0962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Tüm rakipleriniz</a:t>
              </a:r>
              <a:r>
                <a:rPr lang="tr" sz="10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 işlerini burada büyütüyor.</a:t>
              </a:r>
              <a:endParaRPr sz="1000">
                <a:solidFill>
                  <a:srgbClr val="DB0962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19" name="Google Shape;119;p28"/>
          <p:cNvGrpSpPr/>
          <p:nvPr/>
        </p:nvGrpSpPr>
        <p:grpSpPr>
          <a:xfrm>
            <a:off x="559828" y="3324387"/>
            <a:ext cx="5285169" cy="868642"/>
            <a:chOff x="556800" y="1509750"/>
            <a:chExt cx="7334400" cy="868642"/>
          </a:xfrm>
        </p:grpSpPr>
        <p:sp>
          <p:nvSpPr>
            <p:cNvPr id="120" name="Google Shape;120;p28"/>
            <p:cNvSpPr txBox="1"/>
            <p:nvPr/>
          </p:nvSpPr>
          <p:spPr>
            <a:xfrm>
              <a:off x="556800" y="1509750"/>
              <a:ext cx="73344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r" sz="1500">
                  <a:latin typeface="Montserrat"/>
                  <a:ea typeface="Montserrat"/>
                  <a:cs typeface="Montserrat"/>
                  <a:sym typeface="Montserrat"/>
                </a:rPr>
                <a:t>Düğün.com ile Çalışan Herkes Mutlu!</a:t>
              </a:r>
              <a:endParaRPr b="1" sz="15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1" name="Google Shape;121;p28"/>
            <p:cNvSpPr txBox="1"/>
            <p:nvPr/>
          </p:nvSpPr>
          <p:spPr>
            <a:xfrm>
              <a:off x="556800" y="1808992"/>
              <a:ext cx="73344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0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İş ortaklarımızın </a:t>
              </a:r>
              <a:r>
                <a:rPr lang="tr" sz="1000">
                  <a:solidFill>
                    <a:srgbClr val="DB0962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%90’ı üyeliklerine devam ediyor.</a:t>
              </a:r>
              <a:endParaRPr sz="1000">
                <a:solidFill>
                  <a:srgbClr val="DB0962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000">
                  <a:solidFill>
                    <a:srgbClr val="DB0962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Bu firmaların %30’u paketlerini daha da yükseltiyor!</a:t>
              </a:r>
              <a:endParaRPr sz="1000">
                <a:solidFill>
                  <a:srgbClr val="DB0962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pic>
        <p:nvPicPr>
          <p:cNvPr id="122" name="Google Shape;12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5800" y="925075"/>
            <a:ext cx="4037049" cy="346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8"/>
          <p:cNvSpPr txBox="1"/>
          <p:nvPr/>
        </p:nvSpPr>
        <p:spPr>
          <a:xfrm>
            <a:off x="559828" y="4345422"/>
            <a:ext cx="5285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500">
                <a:solidFill>
                  <a:srgbClr val="DB096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Düğün Sektöründe Lideriz!</a:t>
            </a:r>
            <a:endParaRPr sz="1500">
              <a:solidFill>
                <a:srgbClr val="DB096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24" name="Google Shape;124;p28" title="Logo-duguncom-pemb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97050" y="241391"/>
            <a:ext cx="1309675" cy="248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9"/>
          <p:cNvSpPr/>
          <p:nvPr/>
        </p:nvSpPr>
        <p:spPr>
          <a:xfrm>
            <a:off x="3750" y="-9049"/>
            <a:ext cx="9136500" cy="91500"/>
          </a:xfrm>
          <a:prstGeom prst="rect">
            <a:avLst/>
          </a:prstGeom>
          <a:solidFill>
            <a:srgbClr val="DB0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9"/>
          <p:cNvSpPr txBox="1"/>
          <p:nvPr/>
        </p:nvSpPr>
        <p:spPr>
          <a:xfrm>
            <a:off x="44875" y="241400"/>
            <a:ext cx="75960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rgbClr val="00ABAA"/>
                </a:solidFill>
                <a:latin typeface="Montserrat"/>
                <a:ea typeface="Montserrat"/>
                <a:cs typeface="Montserrat"/>
                <a:sym typeface="Montserrat"/>
              </a:rPr>
              <a:t>2026 Yılını Nasıl Geçirdik?</a:t>
            </a:r>
            <a:endParaRPr b="1" sz="1200">
              <a:solidFill>
                <a:srgbClr val="00ABA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29"/>
          <p:cNvSpPr/>
          <p:nvPr/>
        </p:nvSpPr>
        <p:spPr>
          <a:xfrm>
            <a:off x="0" y="3834207"/>
            <a:ext cx="9160200" cy="1303200"/>
          </a:xfrm>
          <a:prstGeom prst="rect">
            <a:avLst/>
          </a:prstGeom>
          <a:solidFill>
            <a:srgbClr val="FFF6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9"/>
          <p:cNvSpPr txBox="1"/>
          <p:nvPr/>
        </p:nvSpPr>
        <p:spPr>
          <a:xfrm>
            <a:off x="210544" y="4183126"/>
            <a:ext cx="326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Deniz kenarında yer alıyor.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900">
                <a:latin typeface="Montserrat SemiBold"/>
                <a:ea typeface="Montserrat SemiBold"/>
                <a:cs typeface="Montserrat SemiBold"/>
                <a:sym typeface="Montserrat SemiBold"/>
              </a:rPr>
              <a:t>Büyük dans pistine sahip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900">
                <a:latin typeface="Montserrat SemiBold"/>
                <a:ea typeface="Montserrat SemiBold"/>
                <a:cs typeface="Montserrat SemiBold"/>
                <a:sym typeface="Montserrat SemiBold"/>
              </a:rPr>
              <a:t>Canlı müzik seçeneği sunuluyor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3" name="Google Shape;133;p29"/>
          <p:cNvSpPr txBox="1"/>
          <p:nvPr/>
        </p:nvSpPr>
        <p:spPr>
          <a:xfrm>
            <a:off x="3841810" y="4183126"/>
            <a:ext cx="326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900">
                <a:latin typeface="Montserrat SemiBold"/>
                <a:ea typeface="Montserrat SemiBold"/>
                <a:cs typeface="Montserrat SemiBold"/>
                <a:sym typeface="Montserrat SemiBold"/>
              </a:rPr>
              <a:t>Nikah için özel alanı var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900">
                <a:latin typeface="Montserrat SemiBold"/>
                <a:ea typeface="Montserrat SemiBold"/>
                <a:cs typeface="Montserrat SemiBold"/>
                <a:sym typeface="Montserrat SemiBold"/>
              </a:rPr>
              <a:t>Süslemesi modern ve ihtişamlı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900">
                <a:latin typeface="Montserrat SemiBold"/>
                <a:ea typeface="Montserrat SemiBold"/>
                <a:cs typeface="Montserrat SemiBold"/>
                <a:sym typeface="Montserrat SemiBold"/>
              </a:rPr>
              <a:t>Fotoğraf çekim alanı mevcut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34" name="Google Shape;13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7275" y="3734200"/>
            <a:ext cx="625479" cy="143235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9"/>
          <p:cNvSpPr txBox="1"/>
          <p:nvPr/>
        </p:nvSpPr>
        <p:spPr>
          <a:xfrm>
            <a:off x="203500" y="3880240"/>
            <a:ext cx="42042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000">
                <a:solidFill>
                  <a:srgbClr val="DB096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Çiftler mekanınızı çok sevdi!</a:t>
            </a:r>
            <a:endParaRPr sz="1000">
              <a:solidFill>
                <a:srgbClr val="DB0962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136" name="Google Shape;136;p29"/>
          <p:cNvGrpSpPr/>
          <p:nvPr/>
        </p:nvGrpSpPr>
        <p:grpSpPr>
          <a:xfrm>
            <a:off x="258550" y="1422602"/>
            <a:ext cx="8626888" cy="1077640"/>
            <a:chOff x="336500" y="1254800"/>
            <a:chExt cx="8314272" cy="615900"/>
          </a:xfrm>
        </p:grpSpPr>
        <p:sp>
          <p:nvSpPr>
            <p:cNvPr id="137" name="Google Shape;137;p29"/>
            <p:cNvSpPr/>
            <p:nvPr/>
          </p:nvSpPr>
          <p:spPr>
            <a:xfrm>
              <a:off x="6809372" y="1254800"/>
              <a:ext cx="1841400" cy="615900"/>
            </a:xfrm>
            <a:prstGeom prst="homePlate">
              <a:avLst>
                <a:gd fmla="val 50000" name="adj"/>
              </a:avLst>
            </a:prstGeom>
            <a:solidFill>
              <a:srgbClr val="FFFFFF"/>
            </a:soli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365750" spcFirstLastPara="1" rIns="91425" wrap="square" tIns="45700">
              <a:noAutofit/>
            </a:bodyPr>
            <a:lstStyle/>
            <a:p>
              <a:pPr indent="0" lvl="0" marL="91440" marR="9144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000">
                  <a:solidFill>
                    <a:srgbClr val="13CF13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 </a:t>
              </a:r>
              <a:r>
                <a:rPr lang="tr" sz="1000">
                  <a:solidFill>
                    <a:srgbClr val="13CF13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98</a:t>
              </a:r>
              <a:r>
                <a:rPr lang="tr" sz="1000">
                  <a:solidFill>
                    <a:srgbClr val="13CF13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 Puan</a:t>
              </a:r>
              <a:endParaRPr sz="1000">
                <a:solidFill>
                  <a:srgbClr val="13CF13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91440" marR="9144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r" sz="1000">
                  <a:latin typeface="Montserrat"/>
                  <a:ea typeface="Montserrat"/>
                  <a:cs typeface="Montserrat"/>
                  <a:sym typeface="Montserrat"/>
                </a:rPr>
                <a:t>Profil Skoru</a:t>
              </a:r>
              <a:endParaRPr/>
            </a:p>
          </p:txBody>
        </p:sp>
        <p:sp>
          <p:nvSpPr>
            <p:cNvPr id="138" name="Google Shape;138;p29"/>
            <p:cNvSpPr/>
            <p:nvPr/>
          </p:nvSpPr>
          <p:spPr>
            <a:xfrm>
              <a:off x="5284141" y="1254800"/>
              <a:ext cx="1841400" cy="615900"/>
            </a:xfrm>
            <a:prstGeom prst="homePlate">
              <a:avLst>
                <a:gd fmla="val 50000" name="adj"/>
              </a:avLst>
            </a:prstGeom>
            <a:solidFill>
              <a:srgbClr val="FFFFFF"/>
            </a:soli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365750" spcFirstLastPara="1" rIns="91425" wrap="square" tIns="45700">
              <a:noAutofit/>
            </a:bodyPr>
            <a:lstStyle/>
            <a:p>
              <a:pPr indent="0" lvl="0" marL="91440" marR="9144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000">
                  <a:solidFill>
                    <a:srgbClr val="FF0000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 8,5 Saat</a:t>
              </a:r>
              <a:endParaRPr sz="1000">
                <a:solidFill>
                  <a:srgbClr val="FF0000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91440" marR="9144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r" sz="1000">
                  <a:latin typeface="Montserrat"/>
                  <a:ea typeface="Montserrat"/>
                  <a:cs typeface="Montserrat"/>
                  <a:sym typeface="Montserrat"/>
                </a:rPr>
                <a:t>Dönüş Süresi</a:t>
              </a:r>
              <a:endParaRPr/>
            </a:p>
          </p:txBody>
        </p:sp>
        <p:sp>
          <p:nvSpPr>
            <p:cNvPr id="139" name="Google Shape;139;p29"/>
            <p:cNvSpPr/>
            <p:nvPr/>
          </p:nvSpPr>
          <p:spPr>
            <a:xfrm>
              <a:off x="4267337" y="1254800"/>
              <a:ext cx="1329300" cy="615900"/>
            </a:xfrm>
            <a:prstGeom prst="homePlate">
              <a:avLst>
                <a:gd fmla="val 50000" name="adj"/>
              </a:avLst>
            </a:prstGeom>
            <a:solidFill>
              <a:srgbClr val="FFFFFF"/>
            </a:soli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365750" spcFirstLastPara="1" rIns="91425" wrap="square" tIns="45700">
              <a:noAutofit/>
            </a:bodyPr>
            <a:lstStyle/>
            <a:p>
              <a:pPr indent="0" lvl="0" marL="91440" marR="9144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000">
                  <a:solidFill>
                    <a:srgbClr val="13CF13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1.325</a:t>
              </a:r>
              <a:endParaRPr sz="1000">
                <a:solidFill>
                  <a:srgbClr val="13CF13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91440" marR="9144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r" sz="1000">
                  <a:latin typeface="Montserrat"/>
                  <a:ea typeface="Montserrat"/>
                  <a:cs typeface="Montserrat"/>
                  <a:sym typeface="Montserrat"/>
                </a:rPr>
                <a:t>Çift</a:t>
              </a:r>
              <a:endParaRPr/>
            </a:p>
          </p:txBody>
        </p:sp>
        <p:sp>
          <p:nvSpPr>
            <p:cNvPr id="140" name="Google Shape;140;p29"/>
            <p:cNvSpPr/>
            <p:nvPr/>
          </p:nvSpPr>
          <p:spPr>
            <a:xfrm>
              <a:off x="2700251" y="1254800"/>
              <a:ext cx="1900500" cy="615900"/>
            </a:xfrm>
            <a:prstGeom prst="homePlate">
              <a:avLst>
                <a:gd fmla="val 50000" name="adj"/>
              </a:avLst>
            </a:prstGeom>
            <a:solidFill>
              <a:srgbClr val="FFFFFF"/>
            </a:soli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365750" spcFirstLastPara="1" rIns="91425" wrap="square" tIns="45700">
              <a:noAutofit/>
            </a:bodyPr>
            <a:lstStyle/>
            <a:p>
              <a:pPr indent="0" lvl="0" marL="91440" marR="9144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000">
                  <a:solidFill>
                    <a:srgbClr val="13CF13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19.263</a:t>
              </a:r>
              <a:endParaRPr sz="1000">
                <a:solidFill>
                  <a:srgbClr val="13CF13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91440" marR="9144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r" sz="1000">
                  <a:latin typeface="Montserrat"/>
                  <a:ea typeface="Montserrat"/>
                  <a:cs typeface="Montserrat"/>
                  <a:sym typeface="Montserrat"/>
                </a:rPr>
                <a:t>Sayfa Ziyareti</a:t>
              </a:r>
              <a:endParaRPr/>
            </a:p>
          </p:txBody>
        </p:sp>
        <p:sp>
          <p:nvSpPr>
            <p:cNvPr id="141" name="Google Shape;141;p29"/>
            <p:cNvSpPr/>
            <p:nvPr/>
          </p:nvSpPr>
          <p:spPr>
            <a:xfrm>
              <a:off x="336500" y="1254800"/>
              <a:ext cx="2681700" cy="615900"/>
            </a:xfrm>
            <a:prstGeom prst="homePlate">
              <a:avLst>
                <a:gd fmla="val 50000" name="adj"/>
              </a:avLst>
            </a:prstGeom>
            <a:solidFill>
              <a:srgbClr val="FFFFFF"/>
            </a:soli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91425" spcFirstLastPara="1" rIns="182875" wrap="square" tIns="45700">
              <a:noAutofit/>
            </a:bodyPr>
            <a:lstStyle/>
            <a:p>
              <a:pPr indent="0" lvl="0" marL="91440" marR="9144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1000">
                  <a:solidFill>
                    <a:schemeClr val="dk1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Winner 6x</a:t>
              </a:r>
              <a:endParaRPr sz="1000"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91440" marR="9144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r" sz="1000">
                  <a:latin typeface="Montserrat"/>
                  <a:ea typeface="Montserrat"/>
                  <a:cs typeface="Montserrat"/>
                  <a:sym typeface="Montserrat"/>
                </a:rPr>
                <a:t>Portaxe-Balo ve Davet Salonları</a:t>
              </a:r>
              <a:r>
                <a:rPr b="1" lang="tr" sz="1000">
                  <a:latin typeface="Montserrat"/>
                  <a:ea typeface="Montserrat"/>
                  <a:cs typeface="Montserrat"/>
                  <a:sym typeface="Montserrat"/>
                </a:rPr>
                <a:t>-</a:t>
              </a:r>
              <a:endParaRPr/>
            </a:p>
          </p:txBody>
        </p:sp>
      </p:grpSp>
      <p:pic>
        <p:nvPicPr>
          <p:cNvPr id="142" name="Google Shape;142;p29" title="Logo-duguncom-pemb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97050" y="241391"/>
            <a:ext cx="1309675" cy="248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DB0962"/>
          </a:solidFill>
          <a:ln cap="flat" cmpd="sng" w="12700">
            <a:solidFill>
              <a:srgbClr val="DB09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0"/>
          <p:cNvSpPr/>
          <p:nvPr/>
        </p:nvSpPr>
        <p:spPr>
          <a:xfrm>
            <a:off x="320040" y="164592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8483"/>
              </a:buClr>
              <a:buSzPts val="1300"/>
              <a:buFont typeface="Montserrat"/>
              <a:buNone/>
            </a:pPr>
            <a:r>
              <a:rPr b="1" i="0" lang="tr" sz="1300" u="none" cap="none" strike="noStrike">
                <a:solidFill>
                  <a:srgbClr val="098483"/>
                </a:solidFill>
                <a:latin typeface="Montserrat"/>
                <a:ea typeface="Montserrat"/>
                <a:cs typeface="Montserrat"/>
                <a:sym typeface="Montserrat"/>
              </a:rPr>
              <a:t>Dönem Karşılaştırması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0"/>
          <p:cNvSpPr/>
          <p:nvPr/>
        </p:nvSpPr>
        <p:spPr>
          <a:xfrm>
            <a:off x="256032" y="658368"/>
            <a:ext cx="4151376" cy="1993392"/>
          </a:xfrm>
          <a:prstGeom prst="roundRect">
            <a:avLst>
              <a:gd fmla="val 3670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0"/>
          <p:cNvSpPr/>
          <p:nvPr/>
        </p:nvSpPr>
        <p:spPr>
          <a:xfrm>
            <a:off x="438912" y="777240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Montserrat"/>
              <a:buNone/>
            </a:pPr>
            <a:r>
              <a:rPr b="0" i="0" lang="tr" sz="9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Sayfa Görüntüleme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0"/>
          <p:cNvSpPr/>
          <p:nvPr/>
        </p:nvSpPr>
        <p:spPr>
          <a:xfrm>
            <a:off x="3547872" y="758952"/>
            <a:ext cx="676656" cy="201168"/>
          </a:xfrm>
          <a:prstGeom prst="roundRect">
            <a:avLst>
              <a:gd fmla="val 22727" name="adj"/>
            </a:avLst>
          </a:prstGeom>
          <a:solidFill>
            <a:srgbClr val="FADADB"/>
          </a:solidFill>
          <a:ln cap="flat" cmpd="sng" w="12700">
            <a:solidFill>
              <a:srgbClr val="FADA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0"/>
          <p:cNvSpPr/>
          <p:nvPr/>
        </p:nvSpPr>
        <p:spPr>
          <a:xfrm>
            <a:off x="3547872" y="758952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0040"/>
              </a:buClr>
              <a:buSzPts val="750"/>
              <a:buFont typeface="Montserrat"/>
              <a:buNone/>
            </a:pPr>
            <a:r>
              <a:rPr b="1" i="0" lang="tr" sz="750" u="none" cap="none" strike="noStrike">
                <a:solidFill>
                  <a:srgbClr val="8B0040"/>
                </a:solidFill>
                <a:latin typeface="Montserrat"/>
                <a:ea typeface="Montserrat"/>
                <a:cs typeface="Montserrat"/>
                <a:sym typeface="Montserrat"/>
              </a:rPr>
              <a:t>▼ 2.0%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0"/>
          <p:cNvSpPr/>
          <p:nvPr/>
        </p:nvSpPr>
        <p:spPr>
          <a:xfrm>
            <a:off x="1243584" y="1426464"/>
            <a:ext cx="2487168" cy="237744"/>
          </a:xfrm>
          <a:prstGeom prst="roundRect">
            <a:avLst>
              <a:gd fmla="val 15385" name="adj"/>
            </a:avLst>
          </a:prstGeom>
          <a:solidFill>
            <a:srgbClr val="F3F4F6"/>
          </a:solidFill>
          <a:ln cap="flat" cmpd="sng" w="12700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0"/>
          <p:cNvSpPr/>
          <p:nvPr/>
        </p:nvSpPr>
        <p:spPr>
          <a:xfrm>
            <a:off x="1243584" y="1828800"/>
            <a:ext cx="2487168" cy="237744"/>
          </a:xfrm>
          <a:prstGeom prst="roundRect">
            <a:avLst>
              <a:gd fmla="val 15385" name="adj"/>
            </a:avLst>
          </a:prstGeom>
          <a:solidFill>
            <a:srgbClr val="F3F4F6"/>
          </a:solidFill>
          <a:ln cap="flat" cmpd="sng" w="12700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0"/>
          <p:cNvSpPr/>
          <p:nvPr/>
        </p:nvSpPr>
        <p:spPr>
          <a:xfrm>
            <a:off x="1243584" y="1426464"/>
            <a:ext cx="2487168" cy="237744"/>
          </a:xfrm>
          <a:prstGeom prst="roundRect">
            <a:avLst>
              <a:gd fmla="val 15385" name="adj"/>
            </a:avLst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0"/>
          <p:cNvSpPr/>
          <p:nvPr/>
        </p:nvSpPr>
        <p:spPr>
          <a:xfrm>
            <a:off x="1243584" y="1828800"/>
            <a:ext cx="2437192" cy="237744"/>
          </a:xfrm>
          <a:prstGeom prst="roundRect">
            <a:avLst>
              <a:gd fmla="val 15385" name="adj"/>
            </a:avLst>
          </a:prstGeom>
          <a:solidFill>
            <a:srgbClr val="DB0962"/>
          </a:solidFill>
          <a:ln cap="flat" cmpd="sng" w="12700">
            <a:solidFill>
              <a:srgbClr val="DB09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0"/>
          <p:cNvSpPr/>
          <p:nvPr/>
        </p:nvSpPr>
        <p:spPr>
          <a:xfrm>
            <a:off x="438912" y="1426464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</a:pPr>
            <a:r>
              <a:rPr b="0" i="0" lang="tr" sz="8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Geçen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0"/>
          <p:cNvSpPr/>
          <p:nvPr/>
        </p:nvSpPr>
        <p:spPr>
          <a:xfrm>
            <a:off x="438912" y="1828800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B0962"/>
              </a:buClr>
              <a:buSzPts val="800"/>
              <a:buFont typeface="Montserrat"/>
              <a:buNone/>
            </a:pPr>
            <a:r>
              <a:rPr b="1" i="0" lang="tr" sz="800" u="none" cap="none" strike="noStrike">
                <a:solidFill>
                  <a:srgbClr val="DB0962"/>
                </a:solidFill>
                <a:latin typeface="Montserrat"/>
                <a:ea typeface="Montserrat"/>
                <a:cs typeface="Montserrat"/>
                <a:sym typeface="Montserrat"/>
              </a:rPr>
              <a:t>Mevcut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0"/>
          <p:cNvSpPr/>
          <p:nvPr/>
        </p:nvSpPr>
        <p:spPr>
          <a:xfrm>
            <a:off x="3785616" y="1426464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</a:pPr>
            <a:r>
              <a:rPr b="0" i="0" lang="tr" sz="8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19.658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0"/>
          <p:cNvSpPr/>
          <p:nvPr/>
        </p:nvSpPr>
        <p:spPr>
          <a:xfrm>
            <a:off x="3785616" y="182880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0962"/>
              </a:buClr>
              <a:buSzPts val="850"/>
              <a:buFont typeface="Montserrat"/>
              <a:buNone/>
            </a:pPr>
            <a:r>
              <a:rPr b="1" i="0" lang="tr" sz="850" u="none" cap="none" strike="noStrike">
                <a:solidFill>
                  <a:srgbClr val="DB0962"/>
                </a:solidFill>
                <a:latin typeface="Montserrat"/>
                <a:ea typeface="Montserrat"/>
                <a:cs typeface="Montserrat"/>
                <a:sym typeface="Montserrat"/>
              </a:rPr>
              <a:t>19.263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0"/>
          <p:cNvSpPr/>
          <p:nvPr/>
        </p:nvSpPr>
        <p:spPr>
          <a:xfrm>
            <a:off x="4736592" y="658368"/>
            <a:ext cx="4151400" cy="1993500"/>
          </a:xfrm>
          <a:prstGeom prst="roundRect">
            <a:avLst>
              <a:gd fmla="val 3670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0"/>
          <p:cNvSpPr/>
          <p:nvPr/>
        </p:nvSpPr>
        <p:spPr>
          <a:xfrm>
            <a:off x="4854025" y="722250"/>
            <a:ext cx="1517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Montserrat"/>
              <a:buNone/>
            </a:pPr>
            <a:r>
              <a:rPr b="0" i="0" lang="tr" sz="9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Çift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0"/>
          <p:cNvSpPr/>
          <p:nvPr/>
        </p:nvSpPr>
        <p:spPr>
          <a:xfrm>
            <a:off x="8028432" y="758952"/>
            <a:ext cx="676656" cy="201168"/>
          </a:xfrm>
          <a:prstGeom prst="roundRect">
            <a:avLst>
              <a:gd fmla="val 22727" name="adj"/>
            </a:avLst>
          </a:prstGeom>
          <a:solidFill>
            <a:srgbClr val="D1EEEE"/>
          </a:solidFill>
          <a:ln cap="flat" cmpd="sng" w="12700">
            <a:solidFill>
              <a:srgbClr val="D1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0"/>
          <p:cNvSpPr/>
          <p:nvPr/>
        </p:nvSpPr>
        <p:spPr>
          <a:xfrm>
            <a:off x="8028432" y="758952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4F4F"/>
              </a:buClr>
              <a:buSzPts val="750"/>
              <a:buFont typeface="Montserrat"/>
              <a:buNone/>
            </a:pPr>
            <a:r>
              <a:rPr b="1" i="0" lang="tr" sz="750" u="none" cap="none" strike="noStrike">
                <a:solidFill>
                  <a:srgbClr val="054F4F"/>
                </a:solidFill>
                <a:latin typeface="Montserrat"/>
                <a:ea typeface="Montserrat"/>
                <a:cs typeface="Montserrat"/>
                <a:sym typeface="Montserrat"/>
              </a:rPr>
              <a:t>▲ 11.6%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0"/>
          <p:cNvSpPr/>
          <p:nvPr/>
        </p:nvSpPr>
        <p:spPr>
          <a:xfrm>
            <a:off x="5724144" y="1426464"/>
            <a:ext cx="2487168" cy="237744"/>
          </a:xfrm>
          <a:prstGeom prst="roundRect">
            <a:avLst>
              <a:gd fmla="val 15385" name="adj"/>
            </a:avLst>
          </a:prstGeom>
          <a:solidFill>
            <a:srgbClr val="F3F4F6"/>
          </a:solidFill>
          <a:ln cap="flat" cmpd="sng" w="12700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0"/>
          <p:cNvSpPr/>
          <p:nvPr/>
        </p:nvSpPr>
        <p:spPr>
          <a:xfrm>
            <a:off x="5724144" y="1828800"/>
            <a:ext cx="2487168" cy="237744"/>
          </a:xfrm>
          <a:prstGeom prst="roundRect">
            <a:avLst>
              <a:gd fmla="val 15385" name="adj"/>
            </a:avLst>
          </a:prstGeom>
          <a:solidFill>
            <a:srgbClr val="F3F4F6"/>
          </a:solidFill>
          <a:ln cap="flat" cmpd="sng" w="12700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0"/>
          <p:cNvSpPr/>
          <p:nvPr/>
        </p:nvSpPr>
        <p:spPr>
          <a:xfrm>
            <a:off x="5724144" y="1426464"/>
            <a:ext cx="2228127" cy="237744"/>
          </a:xfrm>
          <a:prstGeom prst="roundRect">
            <a:avLst>
              <a:gd fmla="val 15385" name="adj"/>
            </a:avLst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0"/>
          <p:cNvSpPr/>
          <p:nvPr/>
        </p:nvSpPr>
        <p:spPr>
          <a:xfrm>
            <a:off x="5724144" y="1828800"/>
            <a:ext cx="2487168" cy="237744"/>
          </a:xfrm>
          <a:prstGeom prst="roundRect">
            <a:avLst>
              <a:gd fmla="val 15385" name="adj"/>
            </a:avLst>
          </a:prstGeom>
          <a:solidFill>
            <a:srgbClr val="098483"/>
          </a:solidFill>
          <a:ln cap="flat" cmpd="sng" w="12700">
            <a:solidFill>
              <a:srgbClr val="098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0"/>
          <p:cNvSpPr/>
          <p:nvPr/>
        </p:nvSpPr>
        <p:spPr>
          <a:xfrm>
            <a:off x="4919472" y="1426464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</a:pPr>
            <a:r>
              <a:rPr b="0" i="0" lang="tr" sz="8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Geçen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0"/>
          <p:cNvSpPr/>
          <p:nvPr/>
        </p:nvSpPr>
        <p:spPr>
          <a:xfrm>
            <a:off x="4919472" y="1828800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98483"/>
              </a:buClr>
              <a:buSzPts val="800"/>
              <a:buFont typeface="Montserrat"/>
              <a:buNone/>
            </a:pPr>
            <a:r>
              <a:rPr b="1" i="0" lang="tr" sz="800" u="none" cap="none" strike="noStrike">
                <a:solidFill>
                  <a:srgbClr val="098483"/>
                </a:solidFill>
                <a:latin typeface="Montserrat"/>
                <a:ea typeface="Montserrat"/>
                <a:cs typeface="Montserrat"/>
                <a:sym typeface="Montserrat"/>
              </a:rPr>
              <a:t>Mevcut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0"/>
          <p:cNvSpPr/>
          <p:nvPr/>
        </p:nvSpPr>
        <p:spPr>
          <a:xfrm>
            <a:off x="8266176" y="1426464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</a:pPr>
            <a:r>
              <a:rPr b="0" i="0" lang="tr" sz="8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1.187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0"/>
          <p:cNvSpPr/>
          <p:nvPr/>
        </p:nvSpPr>
        <p:spPr>
          <a:xfrm>
            <a:off x="8266176" y="182880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8483"/>
              </a:buClr>
              <a:buSzPts val="850"/>
              <a:buFont typeface="Montserrat"/>
              <a:buNone/>
            </a:pPr>
            <a:r>
              <a:rPr b="1" i="0" lang="tr" sz="850" u="none" cap="none" strike="noStrike">
                <a:solidFill>
                  <a:srgbClr val="098483"/>
                </a:solidFill>
                <a:latin typeface="Montserrat"/>
                <a:ea typeface="Montserrat"/>
                <a:cs typeface="Montserrat"/>
                <a:sym typeface="Montserrat"/>
              </a:rPr>
              <a:t>1.325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0"/>
          <p:cNvSpPr/>
          <p:nvPr/>
        </p:nvSpPr>
        <p:spPr>
          <a:xfrm>
            <a:off x="256032" y="2834640"/>
            <a:ext cx="4151376" cy="1993392"/>
          </a:xfrm>
          <a:prstGeom prst="roundRect">
            <a:avLst>
              <a:gd fmla="val 3670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0"/>
          <p:cNvSpPr/>
          <p:nvPr/>
        </p:nvSpPr>
        <p:spPr>
          <a:xfrm>
            <a:off x="438912" y="295351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Montserrat"/>
              <a:buNone/>
            </a:pPr>
            <a:r>
              <a:rPr b="0" i="0" lang="tr" sz="9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Ort. Dönüş Süresi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0"/>
          <p:cNvSpPr/>
          <p:nvPr/>
        </p:nvSpPr>
        <p:spPr>
          <a:xfrm>
            <a:off x="3547872" y="2935224"/>
            <a:ext cx="676656" cy="201168"/>
          </a:xfrm>
          <a:prstGeom prst="roundRect">
            <a:avLst>
              <a:gd fmla="val 22727" name="adj"/>
            </a:avLst>
          </a:prstGeom>
          <a:solidFill>
            <a:srgbClr val="FADADB"/>
          </a:solidFill>
          <a:ln cap="flat" cmpd="sng" w="12700">
            <a:solidFill>
              <a:srgbClr val="FADA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0"/>
          <p:cNvSpPr/>
          <p:nvPr/>
        </p:nvSpPr>
        <p:spPr>
          <a:xfrm>
            <a:off x="3547872" y="2935224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0040"/>
              </a:buClr>
              <a:buSzPts val="750"/>
              <a:buFont typeface="Montserrat"/>
              <a:buNone/>
            </a:pPr>
            <a:r>
              <a:rPr b="1" i="0" lang="tr" sz="750" u="none" cap="none" strike="noStrike">
                <a:solidFill>
                  <a:srgbClr val="8B0040"/>
                </a:solidFill>
                <a:latin typeface="Montserrat"/>
                <a:ea typeface="Montserrat"/>
                <a:cs typeface="Montserrat"/>
                <a:sym typeface="Montserrat"/>
              </a:rPr>
              <a:t>▲ 30.8%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0"/>
          <p:cNvSpPr/>
          <p:nvPr/>
        </p:nvSpPr>
        <p:spPr>
          <a:xfrm>
            <a:off x="1243584" y="3602736"/>
            <a:ext cx="2487168" cy="237744"/>
          </a:xfrm>
          <a:prstGeom prst="roundRect">
            <a:avLst>
              <a:gd fmla="val 15385" name="adj"/>
            </a:avLst>
          </a:prstGeom>
          <a:solidFill>
            <a:srgbClr val="F3F4F6"/>
          </a:solidFill>
          <a:ln cap="flat" cmpd="sng" w="12700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0"/>
          <p:cNvSpPr/>
          <p:nvPr/>
        </p:nvSpPr>
        <p:spPr>
          <a:xfrm>
            <a:off x="1243584" y="4005072"/>
            <a:ext cx="2487168" cy="237744"/>
          </a:xfrm>
          <a:prstGeom prst="roundRect">
            <a:avLst>
              <a:gd fmla="val 15385" name="adj"/>
            </a:avLst>
          </a:prstGeom>
          <a:solidFill>
            <a:srgbClr val="F3F4F6"/>
          </a:solidFill>
          <a:ln cap="flat" cmpd="sng" w="12700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0"/>
          <p:cNvSpPr/>
          <p:nvPr/>
        </p:nvSpPr>
        <p:spPr>
          <a:xfrm>
            <a:off x="1243584" y="3602736"/>
            <a:ext cx="1901952" cy="237744"/>
          </a:xfrm>
          <a:prstGeom prst="roundRect">
            <a:avLst>
              <a:gd fmla="val 15385" name="adj"/>
            </a:avLst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0"/>
          <p:cNvSpPr/>
          <p:nvPr/>
        </p:nvSpPr>
        <p:spPr>
          <a:xfrm>
            <a:off x="1243584" y="4005072"/>
            <a:ext cx="2487168" cy="237744"/>
          </a:xfrm>
          <a:prstGeom prst="roundRect">
            <a:avLst>
              <a:gd fmla="val 15385" name="adj"/>
            </a:avLst>
          </a:prstGeom>
          <a:solidFill>
            <a:srgbClr val="DB0962"/>
          </a:solidFill>
          <a:ln cap="flat" cmpd="sng" w="12700">
            <a:solidFill>
              <a:srgbClr val="DB09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0"/>
          <p:cNvSpPr/>
          <p:nvPr/>
        </p:nvSpPr>
        <p:spPr>
          <a:xfrm>
            <a:off x="438912" y="3602736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</a:pPr>
            <a:r>
              <a:rPr b="0" i="0" lang="tr" sz="8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Geçen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0"/>
          <p:cNvSpPr/>
          <p:nvPr/>
        </p:nvSpPr>
        <p:spPr>
          <a:xfrm>
            <a:off x="438912" y="4005072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B0962"/>
              </a:buClr>
              <a:buSzPts val="800"/>
              <a:buFont typeface="Montserrat"/>
              <a:buNone/>
            </a:pPr>
            <a:r>
              <a:rPr b="1" i="0" lang="tr" sz="800" u="none" cap="none" strike="noStrike">
                <a:solidFill>
                  <a:srgbClr val="DB0962"/>
                </a:solidFill>
                <a:latin typeface="Montserrat"/>
                <a:ea typeface="Montserrat"/>
                <a:cs typeface="Montserrat"/>
                <a:sym typeface="Montserrat"/>
              </a:rPr>
              <a:t>Mevcut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0"/>
          <p:cNvSpPr/>
          <p:nvPr/>
        </p:nvSpPr>
        <p:spPr>
          <a:xfrm>
            <a:off x="3785616" y="3602736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</a:pPr>
            <a:r>
              <a:rPr b="0" i="0" lang="tr" sz="8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6,5 saat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0"/>
          <p:cNvSpPr/>
          <p:nvPr/>
        </p:nvSpPr>
        <p:spPr>
          <a:xfrm>
            <a:off x="3785616" y="4005072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0962"/>
              </a:buClr>
              <a:buSzPts val="850"/>
              <a:buFont typeface="Montserrat"/>
              <a:buNone/>
            </a:pPr>
            <a:r>
              <a:rPr b="1" i="0" lang="tr" sz="850" u="none" cap="none" strike="noStrike">
                <a:solidFill>
                  <a:srgbClr val="DB0962"/>
                </a:solidFill>
                <a:latin typeface="Montserrat"/>
                <a:ea typeface="Montserrat"/>
                <a:cs typeface="Montserrat"/>
                <a:sym typeface="Montserrat"/>
              </a:rPr>
              <a:t>8,5 saat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0"/>
          <p:cNvSpPr/>
          <p:nvPr/>
        </p:nvSpPr>
        <p:spPr>
          <a:xfrm>
            <a:off x="4736592" y="2834640"/>
            <a:ext cx="4151376" cy="1993392"/>
          </a:xfrm>
          <a:prstGeom prst="roundRect">
            <a:avLst>
              <a:gd fmla="val 3670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0"/>
          <p:cNvSpPr/>
          <p:nvPr/>
        </p:nvSpPr>
        <p:spPr>
          <a:xfrm>
            <a:off x="4919472" y="295351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Montserrat"/>
              <a:buNone/>
            </a:pPr>
            <a:r>
              <a:rPr b="0" i="0" lang="tr" sz="9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Profil Puanı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0"/>
          <p:cNvSpPr/>
          <p:nvPr/>
        </p:nvSpPr>
        <p:spPr>
          <a:xfrm>
            <a:off x="8028432" y="2935224"/>
            <a:ext cx="676656" cy="201168"/>
          </a:xfrm>
          <a:prstGeom prst="roundRect">
            <a:avLst>
              <a:gd fmla="val 22727" name="adj"/>
            </a:avLst>
          </a:prstGeom>
          <a:solidFill>
            <a:srgbClr val="D1EEEE"/>
          </a:solidFill>
          <a:ln cap="flat" cmpd="sng" w="12700">
            <a:solidFill>
              <a:srgbClr val="D1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0"/>
          <p:cNvSpPr/>
          <p:nvPr/>
        </p:nvSpPr>
        <p:spPr>
          <a:xfrm>
            <a:off x="8028432" y="2935224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4F4F"/>
              </a:buClr>
              <a:buSzPts val="750"/>
              <a:buFont typeface="Montserrat"/>
              <a:buNone/>
            </a:pPr>
            <a:r>
              <a:rPr b="1" i="0" lang="tr" sz="750" u="none" cap="none" strike="noStrike">
                <a:solidFill>
                  <a:srgbClr val="054F4F"/>
                </a:solidFill>
                <a:latin typeface="Montserrat"/>
                <a:ea typeface="Montserrat"/>
                <a:cs typeface="Montserrat"/>
                <a:sym typeface="Montserrat"/>
              </a:rPr>
              <a:t>▲ 22.5%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0"/>
          <p:cNvSpPr/>
          <p:nvPr/>
        </p:nvSpPr>
        <p:spPr>
          <a:xfrm>
            <a:off x="5724144" y="3602736"/>
            <a:ext cx="2487168" cy="237744"/>
          </a:xfrm>
          <a:prstGeom prst="roundRect">
            <a:avLst>
              <a:gd fmla="val 15385" name="adj"/>
            </a:avLst>
          </a:prstGeom>
          <a:solidFill>
            <a:srgbClr val="F3F4F6"/>
          </a:solidFill>
          <a:ln cap="flat" cmpd="sng" w="12700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0"/>
          <p:cNvSpPr/>
          <p:nvPr/>
        </p:nvSpPr>
        <p:spPr>
          <a:xfrm>
            <a:off x="5724144" y="4005072"/>
            <a:ext cx="2487168" cy="237744"/>
          </a:xfrm>
          <a:prstGeom prst="roundRect">
            <a:avLst>
              <a:gd fmla="val 15385" name="adj"/>
            </a:avLst>
          </a:prstGeom>
          <a:solidFill>
            <a:srgbClr val="F3F4F6"/>
          </a:solidFill>
          <a:ln cap="flat" cmpd="sng" w="12700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0"/>
          <p:cNvSpPr/>
          <p:nvPr/>
        </p:nvSpPr>
        <p:spPr>
          <a:xfrm>
            <a:off x="5724144" y="3602736"/>
            <a:ext cx="2030341" cy="237744"/>
          </a:xfrm>
          <a:prstGeom prst="roundRect">
            <a:avLst>
              <a:gd fmla="val 15385" name="adj"/>
            </a:avLst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0"/>
          <p:cNvSpPr/>
          <p:nvPr/>
        </p:nvSpPr>
        <p:spPr>
          <a:xfrm>
            <a:off x="5724144" y="4005072"/>
            <a:ext cx="2487168" cy="237744"/>
          </a:xfrm>
          <a:prstGeom prst="roundRect">
            <a:avLst>
              <a:gd fmla="val 15385" name="adj"/>
            </a:avLst>
          </a:prstGeom>
          <a:solidFill>
            <a:srgbClr val="098483"/>
          </a:solidFill>
          <a:ln cap="flat" cmpd="sng" w="12700">
            <a:solidFill>
              <a:srgbClr val="098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0"/>
          <p:cNvSpPr/>
          <p:nvPr/>
        </p:nvSpPr>
        <p:spPr>
          <a:xfrm>
            <a:off x="4919472" y="3602736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</a:pPr>
            <a:r>
              <a:rPr b="0" i="0" lang="tr" sz="8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Geçen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0"/>
          <p:cNvSpPr/>
          <p:nvPr/>
        </p:nvSpPr>
        <p:spPr>
          <a:xfrm>
            <a:off x="4919472" y="4005072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98483"/>
              </a:buClr>
              <a:buSzPts val="800"/>
              <a:buFont typeface="Montserrat"/>
              <a:buNone/>
            </a:pPr>
            <a:r>
              <a:rPr b="1" i="0" lang="tr" sz="800" u="none" cap="none" strike="noStrike">
                <a:solidFill>
                  <a:srgbClr val="098483"/>
                </a:solidFill>
                <a:latin typeface="Montserrat"/>
                <a:ea typeface="Montserrat"/>
                <a:cs typeface="Montserrat"/>
                <a:sym typeface="Montserrat"/>
              </a:rPr>
              <a:t>Mevcut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0"/>
          <p:cNvSpPr/>
          <p:nvPr/>
        </p:nvSpPr>
        <p:spPr>
          <a:xfrm>
            <a:off x="8266176" y="3602736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</a:pPr>
            <a:r>
              <a:rPr b="0" i="0" lang="tr" sz="8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80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0"/>
          <p:cNvSpPr/>
          <p:nvPr/>
        </p:nvSpPr>
        <p:spPr>
          <a:xfrm>
            <a:off x="8266176" y="4005072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8483"/>
              </a:buClr>
              <a:buSzPts val="850"/>
              <a:buFont typeface="Montserrat"/>
              <a:buNone/>
            </a:pPr>
            <a:r>
              <a:rPr b="1" i="0" lang="tr" sz="850" u="none" cap="none" strike="noStrike">
                <a:solidFill>
                  <a:srgbClr val="098483"/>
                </a:solidFill>
                <a:latin typeface="Montserrat"/>
                <a:ea typeface="Montserrat"/>
                <a:cs typeface="Montserrat"/>
                <a:sym typeface="Montserrat"/>
              </a:rPr>
              <a:t>98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0"/>
          <p:cNvSpPr/>
          <p:nvPr/>
        </p:nvSpPr>
        <p:spPr>
          <a:xfrm>
            <a:off x="320040" y="4956048"/>
            <a:ext cx="8503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700"/>
              <a:buFont typeface="Montserrat"/>
              <a:buNone/>
            </a:pPr>
            <a:r>
              <a:rPr lang="tr" sz="800">
                <a:solidFill>
                  <a:srgbClr val="BBBBBB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b="0" i="0" lang="tr" sz="800" u="none" cap="none" strike="noStrike">
                <a:solidFill>
                  <a:srgbClr val="BBBBBB"/>
                </a:solidFill>
                <a:latin typeface="Montserrat"/>
                <a:ea typeface="Montserrat"/>
                <a:cs typeface="Montserrat"/>
                <a:sym typeface="Montserrat"/>
              </a:rPr>
              <a:t>İstatistikler 2</a:t>
            </a:r>
            <a:r>
              <a:rPr lang="tr" sz="800">
                <a:solidFill>
                  <a:srgbClr val="BBBBBB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0" i="0" lang="tr" sz="800" u="none" cap="none" strike="noStrike">
                <a:solidFill>
                  <a:srgbClr val="BBBBBB"/>
                </a:solidFill>
                <a:latin typeface="Montserrat"/>
                <a:ea typeface="Montserrat"/>
                <a:cs typeface="Montserrat"/>
                <a:sym typeface="Montserrat"/>
              </a:rPr>
              <a:t>.06.2026 tarihine kadardır.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30" title="Logo-duguncom-pemb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9850" y="245916"/>
            <a:ext cx="1309675" cy="248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2ED"/>
            </a:gs>
            <a:gs pos="50000">
              <a:srgbClr val="FFFFFF"/>
            </a:gs>
            <a:gs pos="100000">
              <a:srgbClr val="FFFFFF"/>
            </a:gs>
          </a:gsLst>
          <a:lin ang="16198662" scaled="0"/>
        </a:gra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/>
          <p:nvPr/>
        </p:nvSpPr>
        <p:spPr>
          <a:xfrm>
            <a:off x="3750" y="-9049"/>
            <a:ext cx="9136500" cy="91500"/>
          </a:xfrm>
          <a:prstGeom prst="rect">
            <a:avLst/>
          </a:prstGeom>
          <a:solidFill>
            <a:srgbClr val="DB0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1"/>
          <p:cNvSpPr txBox="1"/>
          <p:nvPr/>
        </p:nvSpPr>
        <p:spPr>
          <a:xfrm>
            <a:off x="44875" y="241400"/>
            <a:ext cx="75960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rgbClr val="00ABAA"/>
                </a:solidFill>
                <a:latin typeface="Montserrat"/>
                <a:ea typeface="Montserrat"/>
                <a:cs typeface="Montserrat"/>
                <a:sym typeface="Montserrat"/>
              </a:rPr>
              <a:t>Neleri Daha İyi Yapabilirsiniz?</a:t>
            </a:r>
            <a:endParaRPr b="1" sz="1200">
              <a:solidFill>
                <a:srgbClr val="00ABA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31"/>
          <p:cNvSpPr txBox="1"/>
          <p:nvPr/>
        </p:nvSpPr>
        <p:spPr>
          <a:xfrm>
            <a:off x="500352" y="1020000"/>
            <a:ext cx="783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2000">
                <a:solidFill>
                  <a:srgbClr val="DB096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Çiftler sayfanızı çok beğeniyor, tebrikler!</a:t>
            </a:r>
            <a:endParaRPr sz="200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07" name="Google Shape;207;p31"/>
          <p:cNvSpPr txBox="1"/>
          <p:nvPr/>
        </p:nvSpPr>
        <p:spPr>
          <a:xfrm>
            <a:off x="500350" y="1389625"/>
            <a:ext cx="783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600">
                <a:latin typeface="Montserrat Black"/>
                <a:ea typeface="Montserrat Black"/>
                <a:cs typeface="Montserrat Black"/>
                <a:sym typeface="Montserrat Black"/>
              </a:rPr>
              <a:t>Çok daha iyisini yapmak için:</a:t>
            </a:r>
            <a:endParaRPr sz="160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208" name="Google Shape;208;p31"/>
          <p:cNvGrpSpPr/>
          <p:nvPr/>
        </p:nvGrpSpPr>
        <p:grpSpPr>
          <a:xfrm>
            <a:off x="452650" y="2130124"/>
            <a:ext cx="3800973" cy="677101"/>
            <a:chOff x="325618" y="2053924"/>
            <a:chExt cx="3800973" cy="677101"/>
          </a:xfrm>
        </p:grpSpPr>
        <p:sp>
          <p:nvSpPr>
            <p:cNvPr id="209" name="Google Shape;209;p31"/>
            <p:cNvSpPr txBox="1"/>
            <p:nvPr/>
          </p:nvSpPr>
          <p:spPr>
            <a:xfrm>
              <a:off x="1002691" y="2053925"/>
              <a:ext cx="31239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r" sz="1000">
                  <a:latin typeface="Montserrat"/>
                  <a:ea typeface="Montserrat"/>
                  <a:cs typeface="Montserrat"/>
                  <a:sym typeface="Montserrat"/>
                </a:rPr>
                <a:t>Teklif isteyen çiftleri</a:t>
              </a:r>
              <a:endParaRPr b="1"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r" sz="1000">
                  <a:latin typeface="Montserrat"/>
                  <a:ea typeface="Montserrat"/>
                  <a:cs typeface="Montserrat"/>
                  <a:sym typeface="Montserrat"/>
                </a:rPr>
                <a:t>en geç 1 saat içinde arayın.</a:t>
              </a:r>
              <a:br>
                <a:rPr b="1" lang="tr" sz="1300"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t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Anlaşmalarınızı 3 kata kadar artırın!</a:t>
              </a:r>
              <a:endParaRPr b="1" sz="13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210" name="Google Shape;210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5618" y="2053924"/>
              <a:ext cx="677073" cy="677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1" name="Google Shape;211;p31"/>
          <p:cNvGrpSpPr/>
          <p:nvPr/>
        </p:nvGrpSpPr>
        <p:grpSpPr>
          <a:xfrm>
            <a:off x="452650" y="2959625"/>
            <a:ext cx="3800972" cy="668250"/>
            <a:chOff x="325619" y="3075875"/>
            <a:chExt cx="3800972" cy="668250"/>
          </a:xfrm>
        </p:grpSpPr>
        <p:sp>
          <p:nvSpPr>
            <p:cNvPr id="212" name="Google Shape;212;p31"/>
            <p:cNvSpPr txBox="1"/>
            <p:nvPr/>
          </p:nvSpPr>
          <p:spPr>
            <a:xfrm>
              <a:off x="1002691" y="3084725"/>
              <a:ext cx="3123900" cy="65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r" sz="1000">
                  <a:latin typeface="Montserrat"/>
                  <a:ea typeface="Montserrat"/>
                  <a:cs typeface="Montserrat"/>
                  <a:sym typeface="Montserrat"/>
                </a:rPr>
                <a:t>Çiftleri mutlaka mekanınıza davet edin.</a:t>
              </a:r>
              <a:endParaRPr b="1"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Unutmayın, yüz yüze görüşmede anlaşma yapamayacağınız çift yok!</a:t>
              </a:r>
              <a:endParaRPr b="1" sz="13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213" name="Google Shape;213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5619" y="3075875"/>
              <a:ext cx="659400" cy="659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4" name="Google Shape;214;p31"/>
          <p:cNvGrpSpPr/>
          <p:nvPr/>
        </p:nvGrpSpPr>
        <p:grpSpPr>
          <a:xfrm>
            <a:off x="452649" y="3789125"/>
            <a:ext cx="3800973" cy="677100"/>
            <a:chOff x="325618" y="4192475"/>
            <a:chExt cx="3800973" cy="677100"/>
          </a:xfrm>
        </p:grpSpPr>
        <p:sp>
          <p:nvSpPr>
            <p:cNvPr id="215" name="Google Shape;215;p31"/>
            <p:cNvSpPr txBox="1"/>
            <p:nvPr/>
          </p:nvSpPr>
          <p:spPr>
            <a:xfrm>
              <a:off x="1002691" y="4192475"/>
              <a:ext cx="31239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r" sz="1000">
                  <a:latin typeface="Montserrat"/>
                  <a:ea typeface="Montserrat"/>
                  <a:cs typeface="Montserrat"/>
                  <a:sym typeface="Montserrat"/>
                </a:rPr>
                <a:t>Tüm konseptlerinizi gösteren şık görseller</a:t>
              </a:r>
              <a:endParaRPr b="1"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r" sz="1000">
                  <a:latin typeface="Montserrat"/>
                  <a:ea typeface="Montserrat"/>
                  <a:cs typeface="Montserrat"/>
                  <a:sym typeface="Montserrat"/>
                </a:rPr>
                <a:t>ve videolar kullanın.</a:t>
              </a:r>
              <a:endParaRPr b="1"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Teklif isteklerinizi 3 kata kadar artırın!</a:t>
              </a:r>
              <a:endParaRPr b="1" sz="13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216" name="Google Shape;216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25618" y="4201323"/>
              <a:ext cx="668250" cy="668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7" name="Google Shape;217;p31"/>
          <p:cNvGrpSpPr/>
          <p:nvPr/>
        </p:nvGrpSpPr>
        <p:grpSpPr>
          <a:xfrm>
            <a:off x="4560212" y="2959625"/>
            <a:ext cx="3702434" cy="677100"/>
            <a:chOff x="4509381" y="3075875"/>
            <a:chExt cx="3702434" cy="677100"/>
          </a:xfrm>
        </p:grpSpPr>
        <p:sp>
          <p:nvSpPr>
            <p:cNvPr id="218" name="Google Shape;218;p31"/>
            <p:cNvSpPr txBox="1"/>
            <p:nvPr/>
          </p:nvSpPr>
          <p:spPr>
            <a:xfrm>
              <a:off x="5177615" y="3075875"/>
              <a:ext cx="30342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r" sz="1000">
                  <a:latin typeface="Montserrat"/>
                  <a:ea typeface="Montserrat"/>
                  <a:cs typeface="Montserrat"/>
                  <a:sym typeface="Montserrat"/>
                </a:rPr>
                <a:t>Sık ve kısa süreli </a:t>
              </a:r>
              <a:endParaRPr b="1"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r" sz="1000">
                  <a:latin typeface="Montserrat"/>
                  <a:ea typeface="Montserrat"/>
                  <a:cs typeface="Montserrat"/>
                  <a:sym typeface="Montserrat"/>
                </a:rPr>
                <a:t>kampanyalar ekleyin.</a:t>
              </a:r>
              <a:endParaRPr b="1"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Teklif isteklerinizi 1,5 kata kadar artırın!</a:t>
              </a:r>
              <a:endParaRPr b="1" sz="13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219" name="Google Shape;219;p3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509381" y="3075875"/>
              <a:ext cx="668250" cy="668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0" name="Google Shape;220;p31"/>
          <p:cNvGrpSpPr/>
          <p:nvPr/>
        </p:nvGrpSpPr>
        <p:grpSpPr>
          <a:xfrm>
            <a:off x="4551349" y="3789124"/>
            <a:ext cx="3711297" cy="677100"/>
            <a:chOff x="4500518" y="4192474"/>
            <a:chExt cx="3711297" cy="677100"/>
          </a:xfrm>
        </p:grpSpPr>
        <p:sp>
          <p:nvSpPr>
            <p:cNvPr id="221" name="Google Shape;221;p31"/>
            <p:cNvSpPr txBox="1"/>
            <p:nvPr/>
          </p:nvSpPr>
          <p:spPr>
            <a:xfrm>
              <a:off x="5177615" y="4201325"/>
              <a:ext cx="3034200" cy="65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r" sz="1000">
                  <a:latin typeface="Montserrat"/>
                  <a:ea typeface="Montserrat"/>
                  <a:cs typeface="Montserrat"/>
                  <a:sym typeface="Montserrat"/>
                </a:rPr>
                <a:t>Yorum sayınızı </a:t>
              </a:r>
              <a:r>
                <a:rPr b="1" lang="tr" sz="1000">
                  <a:latin typeface="Montserrat"/>
                  <a:ea typeface="Montserrat"/>
                  <a:cs typeface="Montserrat"/>
                  <a:sym typeface="Montserrat"/>
                </a:rPr>
                <a:t>arttırın</a:t>
              </a:r>
              <a:r>
                <a:rPr b="1" lang="tr" sz="1000">
                  <a:latin typeface="Montserrat"/>
                  <a:ea typeface="Montserrat"/>
                  <a:cs typeface="Montserrat"/>
                  <a:sym typeface="Montserrat"/>
                </a:rPr>
                <a:t>.</a:t>
              </a:r>
              <a:endParaRPr b="1"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Çok referansınızın olması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tekliflerinizi 1,5 kata kadar artırır!</a:t>
              </a:r>
              <a:endParaRPr b="1" sz="13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222" name="Google Shape;222;p3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00518" y="4192474"/>
              <a:ext cx="677100" cy="677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3" name="Google Shape;223;p31"/>
          <p:cNvGrpSpPr/>
          <p:nvPr/>
        </p:nvGrpSpPr>
        <p:grpSpPr>
          <a:xfrm>
            <a:off x="4560199" y="2130125"/>
            <a:ext cx="3702447" cy="677100"/>
            <a:chOff x="4788799" y="2206325"/>
            <a:chExt cx="3702447" cy="677100"/>
          </a:xfrm>
        </p:grpSpPr>
        <p:sp>
          <p:nvSpPr>
            <p:cNvPr id="224" name="Google Shape;224;p31"/>
            <p:cNvSpPr txBox="1"/>
            <p:nvPr/>
          </p:nvSpPr>
          <p:spPr>
            <a:xfrm>
              <a:off x="5457046" y="2206325"/>
              <a:ext cx="30342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r" sz="1000">
                  <a:latin typeface="Montserrat"/>
                  <a:ea typeface="Montserrat"/>
                  <a:cs typeface="Montserrat"/>
                  <a:sym typeface="Montserrat"/>
                </a:rPr>
                <a:t>Dikkat çekici bir</a:t>
              </a:r>
              <a:endParaRPr b="1"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r" sz="1000">
                  <a:latin typeface="Montserrat"/>
                  <a:ea typeface="Montserrat"/>
                  <a:cs typeface="Montserrat"/>
                  <a:sym typeface="Montserrat"/>
                </a:rPr>
                <a:t>kapak fotoğrafı kullanın.</a:t>
              </a:r>
              <a:endParaRPr b="1"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4 kata kadar daha fazla sayfa ziyareti alın!</a:t>
              </a:r>
              <a:endParaRPr b="1" sz="13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225" name="Google Shape;225;p3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88799" y="2206326"/>
              <a:ext cx="668250" cy="6682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6" name="Google Shape;226;p31" title="Logo-duguncom-pemb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97050" y="241391"/>
            <a:ext cx="1309675" cy="248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32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2375" y="2158275"/>
            <a:ext cx="1819251" cy="82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DB0962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